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3DA12-0DB2-F9EC-F1DC-E17FF8E001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4EAD0A-511E-DA9D-D35A-340AA5BF0D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94E0286-0D7B-ED43-A575-34EEDCC774D5}"/>
              </a:ext>
            </a:extLst>
          </p:cNvPr>
          <p:cNvSpPr>
            <a:spLocks noGrp="1"/>
          </p:cNvSpPr>
          <p:nvPr>
            <p:ph type="dt" sz="half" idx="10"/>
          </p:nvPr>
        </p:nvSpPr>
        <p:spPr/>
        <p:txBody>
          <a:bodyPr/>
          <a:lstStyle/>
          <a:p>
            <a:fld id="{51DB43D7-0ADC-49B9-B3E6-FF12E797A797}" type="datetimeFigureOut">
              <a:rPr lang="en-US" smtClean="0"/>
              <a:t>6/4/2026</a:t>
            </a:fld>
            <a:endParaRPr lang="en-US"/>
          </a:p>
        </p:txBody>
      </p:sp>
      <p:sp>
        <p:nvSpPr>
          <p:cNvPr id="5" name="Footer Placeholder 4">
            <a:extLst>
              <a:ext uri="{FF2B5EF4-FFF2-40B4-BE49-F238E27FC236}">
                <a16:creationId xmlns:a16="http://schemas.microsoft.com/office/drawing/2014/main" id="{3DEE840C-B104-7F63-EAEE-A08BB9417D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061DA9-A157-C22B-B629-C8328BB84626}"/>
              </a:ext>
            </a:extLst>
          </p:cNvPr>
          <p:cNvSpPr>
            <a:spLocks noGrp="1"/>
          </p:cNvSpPr>
          <p:nvPr>
            <p:ph type="sldNum" sz="quarter" idx="12"/>
          </p:nvPr>
        </p:nvSpPr>
        <p:spPr/>
        <p:txBody>
          <a:bodyPr/>
          <a:lstStyle/>
          <a:p>
            <a:fld id="{0892F64C-7D7A-4523-8CE9-7989EBA38443}" type="slidenum">
              <a:rPr lang="en-US" smtClean="0"/>
              <a:t>‹#›</a:t>
            </a:fld>
            <a:endParaRPr lang="en-US"/>
          </a:p>
        </p:txBody>
      </p:sp>
    </p:spTree>
    <p:extLst>
      <p:ext uri="{BB962C8B-B14F-4D97-AF65-F5344CB8AC3E}">
        <p14:creationId xmlns:p14="http://schemas.microsoft.com/office/powerpoint/2010/main" val="132434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80688-EBFC-79E7-2573-97EB8D5C15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FC3892-CD85-B051-CFB8-193005E72D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743A7F-FA12-6538-E816-1E8C59C93A99}"/>
              </a:ext>
            </a:extLst>
          </p:cNvPr>
          <p:cNvSpPr>
            <a:spLocks noGrp="1"/>
          </p:cNvSpPr>
          <p:nvPr>
            <p:ph type="dt" sz="half" idx="10"/>
          </p:nvPr>
        </p:nvSpPr>
        <p:spPr/>
        <p:txBody>
          <a:bodyPr/>
          <a:lstStyle/>
          <a:p>
            <a:fld id="{51DB43D7-0ADC-49B9-B3E6-FF12E797A797}" type="datetimeFigureOut">
              <a:rPr lang="en-US" smtClean="0"/>
              <a:t>6/4/2026</a:t>
            </a:fld>
            <a:endParaRPr lang="en-US"/>
          </a:p>
        </p:txBody>
      </p:sp>
      <p:sp>
        <p:nvSpPr>
          <p:cNvPr id="5" name="Footer Placeholder 4">
            <a:extLst>
              <a:ext uri="{FF2B5EF4-FFF2-40B4-BE49-F238E27FC236}">
                <a16:creationId xmlns:a16="http://schemas.microsoft.com/office/drawing/2014/main" id="{7522B2D1-E65D-E231-4AF4-C92F9BDC41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B05745-B04A-AF98-6F74-DD096FECFCE3}"/>
              </a:ext>
            </a:extLst>
          </p:cNvPr>
          <p:cNvSpPr>
            <a:spLocks noGrp="1"/>
          </p:cNvSpPr>
          <p:nvPr>
            <p:ph type="sldNum" sz="quarter" idx="12"/>
          </p:nvPr>
        </p:nvSpPr>
        <p:spPr/>
        <p:txBody>
          <a:bodyPr/>
          <a:lstStyle/>
          <a:p>
            <a:fld id="{0892F64C-7D7A-4523-8CE9-7989EBA38443}" type="slidenum">
              <a:rPr lang="en-US" smtClean="0"/>
              <a:t>‹#›</a:t>
            </a:fld>
            <a:endParaRPr lang="en-US"/>
          </a:p>
        </p:txBody>
      </p:sp>
    </p:spTree>
    <p:extLst>
      <p:ext uri="{BB962C8B-B14F-4D97-AF65-F5344CB8AC3E}">
        <p14:creationId xmlns:p14="http://schemas.microsoft.com/office/powerpoint/2010/main" val="687006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3C9E6-DCD9-EC07-679B-86A1BBC30A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10AD52-8B66-23F4-02D2-693208957A5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63BEC1-CBED-5F7D-3D08-0BFA2016B232}"/>
              </a:ext>
            </a:extLst>
          </p:cNvPr>
          <p:cNvSpPr>
            <a:spLocks noGrp="1"/>
          </p:cNvSpPr>
          <p:nvPr>
            <p:ph type="dt" sz="half" idx="10"/>
          </p:nvPr>
        </p:nvSpPr>
        <p:spPr/>
        <p:txBody>
          <a:bodyPr/>
          <a:lstStyle/>
          <a:p>
            <a:fld id="{51DB43D7-0ADC-49B9-B3E6-FF12E797A797}" type="datetimeFigureOut">
              <a:rPr lang="en-US" smtClean="0"/>
              <a:t>6/4/2026</a:t>
            </a:fld>
            <a:endParaRPr lang="en-US"/>
          </a:p>
        </p:txBody>
      </p:sp>
      <p:sp>
        <p:nvSpPr>
          <p:cNvPr id="5" name="Footer Placeholder 4">
            <a:extLst>
              <a:ext uri="{FF2B5EF4-FFF2-40B4-BE49-F238E27FC236}">
                <a16:creationId xmlns:a16="http://schemas.microsoft.com/office/drawing/2014/main" id="{22D11664-13A5-588E-8CD8-F31578D537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AC072D-0C29-E865-80D8-63092B394452}"/>
              </a:ext>
            </a:extLst>
          </p:cNvPr>
          <p:cNvSpPr>
            <a:spLocks noGrp="1"/>
          </p:cNvSpPr>
          <p:nvPr>
            <p:ph type="sldNum" sz="quarter" idx="12"/>
          </p:nvPr>
        </p:nvSpPr>
        <p:spPr/>
        <p:txBody>
          <a:bodyPr/>
          <a:lstStyle/>
          <a:p>
            <a:fld id="{0892F64C-7D7A-4523-8CE9-7989EBA38443}" type="slidenum">
              <a:rPr lang="en-US" smtClean="0"/>
              <a:t>‹#›</a:t>
            </a:fld>
            <a:endParaRPr lang="en-US"/>
          </a:p>
        </p:txBody>
      </p:sp>
    </p:spTree>
    <p:extLst>
      <p:ext uri="{BB962C8B-B14F-4D97-AF65-F5344CB8AC3E}">
        <p14:creationId xmlns:p14="http://schemas.microsoft.com/office/powerpoint/2010/main" val="2533410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5A25A-6A72-4DCA-329F-691E309BFE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6AA81D-8CAF-23B9-F7D8-370710A43B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77A8074-8EC8-1B44-56CD-7CDA711993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EB39EA-1B03-84EB-D3DF-CE03B7A23FE3}"/>
              </a:ext>
            </a:extLst>
          </p:cNvPr>
          <p:cNvSpPr>
            <a:spLocks noGrp="1"/>
          </p:cNvSpPr>
          <p:nvPr>
            <p:ph type="dt" sz="half" idx="10"/>
          </p:nvPr>
        </p:nvSpPr>
        <p:spPr/>
        <p:txBody>
          <a:bodyPr/>
          <a:lstStyle/>
          <a:p>
            <a:fld id="{51DB43D7-0ADC-49B9-B3E6-FF12E797A797}" type="datetimeFigureOut">
              <a:rPr lang="en-US" smtClean="0"/>
              <a:t>6/4/2026</a:t>
            </a:fld>
            <a:endParaRPr lang="en-US"/>
          </a:p>
        </p:txBody>
      </p:sp>
      <p:sp>
        <p:nvSpPr>
          <p:cNvPr id="6" name="Footer Placeholder 5">
            <a:extLst>
              <a:ext uri="{FF2B5EF4-FFF2-40B4-BE49-F238E27FC236}">
                <a16:creationId xmlns:a16="http://schemas.microsoft.com/office/drawing/2014/main" id="{A484388B-B4F4-F660-F1BE-2CBF213B36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E8E82C-32F2-08FF-9CE4-6441E8A8993A}"/>
              </a:ext>
            </a:extLst>
          </p:cNvPr>
          <p:cNvSpPr>
            <a:spLocks noGrp="1"/>
          </p:cNvSpPr>
          <p:nvPr>
            <p:ph type="sldNum" sz="quarter" idx="12"/>
          </p:nvPr>
        </p:nvSpPr>
        <p:spPr/>
        <p:txBody>
          <a:bodyPr/>
          <a:lstStyle/>
          <a:p>
            <a:fld id="{0892F64C-7D7A-4523-8CE9-7989EBA38443}" type="slidenum">
              <a:rPr lang="en-US" smtClean="0"/>
              <a:t>‹#›</a:t>
            </a:fld>
            <a:endParaRPr lang="en-US"/>
          </a:p>
        </p:txBody>
      </p:sp>
    </p:spTree>
    <p:extLst>
      <p:ext uri="{BB962C8B-B14F-4D97-AF65-F5344CB8AC3E}">
        <p14:creationId xmlns:p14="http://schemas.microsoft.com/office/powerpoint/2010/main" val="36059263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FC2F-3918-337F-F3AE-289B6E752B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F9D59B-EC7F-B200-AF2D-FE24D4363E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7DB63A-A0E2-8C64-9991-5BD32AD5AA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7A90915-988D-1575-A277-66589F8B76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253F4F-256D-C298-7A2F-204F7E0E66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0F760B-A663-921C-BE69-A80799861FD8}"/>
              </a:ext>
            </a:extLst>
          </p:cNvPr>
          <p:cNvSpPr>
            <a:spLocks noGrp="1"/>
          </p:cNvSpPr>
          <p:nvPr>
            <p:ph type="dt" sz="half" idx="10"/>
          </p:nvPr>
        </p:nvSpPr>
        <p:spPr/>
        <p:txBody>
          <a:bodyPr/>
          <a:lstStyle/>
          <a:p>
            <a:fld id="{51DB43D7-0ADC-49B9-B3E6-FF12E797A797}" type="datetimeFigureOut">
              <a:rPr lang="en-US" smtClean="0"/>
              <a:t>6/4/2026</a:t>
            </a:fld>
            <a:endParaRPr lang="en-US"/>
          </a:p>
        </p:txBody>
      </p:sp>
      <p:sp>
        <p:nvSpPr>
          <p:cNvPr id="8" name="Footer Placeholder 7">
            <a:extLst>
              <a:ext uri="{FF2B5EF4-FFF2-40B4-BE49-F238E27FC236}">
                <a16:creationId xmlns:a16="http://schemas.microsoft.com/office/drawing/2014/main" id="{DB1C0430-3631-FC39-57AE-1BB43488B12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B0AD4F-9F36-F642-FE7E-10A52C6BFBFB}"/>
              </a:ext>
            </a:extLst>
          </p:cNvPr>
          <p:cNvSpPr>
            <a:spLocks noGrp="1"/>
          </p:cNvSpPr>
          <p:nvPr>
            <p:ph type="sldNum" sz="quarter" idx="12"/>
          </p:nvPr>
        </p:nvSpPr>
        <p:spPr/>
        <p:txBody>
          <a:bodyPr/>
          <a:lstStyle/>
          <a:p>
            <a:fld id="{0892F64C-7D7A-4523-8CE9-7989EBA38443}" type="slidenum">
              <a:rPr lang="en-US" smtClean="0"/>
              <a:t>‹#›</a:t>
            </a:fld>
            <a:endParaRPr lang="en-US"/>
          </a:p>
        </p:txBody>
      </p:sp>
    </p:spTree>
    <p:extLst>
      <p:ext uri="{BB962C8B-B14F-4D97-AF65-F5344CB8AC3E}">
        <p14:creationId xmlns:p14="http://schemas.microsoft.com/office/powerpoint/2010/main" val="3495670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59F03-C5BC-652A-C4A4-E45614409C8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8F17003-E0F2-9625-9A36-EEB0DC8F2131}"/>
              </a:ext>
            </a:extLst>
          </p:cNvPr>
          <p:cNvSpPr>
            <a:spLocks noGrp="1"/>
          </p:cNvSpPr>
          <p:nvPr>
            <p:ph type="dt" sz="half" idx="10"/>
          </p:nvPr>
        </p:nvSpPr>
        <p:spPr/>
        <p:txBody>
          <a:bodyPr/>
          <a:lstStyle/>
          <a:p>
            <a:fld id="{51DB43D7-0ADC-49B9-B3E6-FF12E797A797}" type="datetimeFigureOut">
              <a:rPr lang="en-US" smtClean="0"/>
              <a:t>6/4/2026</a:t>
            </a:fld>
            <a:endParaRPr lang="en-US"/>
          </a:p>
        </p:txBody>
      </p:sp>
      <p:sp>
        <p:nvSpPr>
          <p:cNvPr id="4" name="Footer Placeholder 3">
            <a:extLst>
              <a:ext uri="{FF2B5EF4-FFF2-40B4-BE49-F238E27FC236}">
                <a16:creationId xmlns:a16="http://schemas.microsoft.com/office/drawing/2014/main" id="{2A82611D-910D-AE24-5419-ED82F685D6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9B21243-BD28-50B3-0DE7-26266900BC4F}"/>
              </a:ext>
            </a:extLst>
          </p:cNvPr>
          <p:cNvSpPr>
            <a:spLocks noGrp="1"/>
          </p:cNvSpPr>
          <p:nvPr>
            <p:ph type="sldNum" sz="quarter" idx="12"/>
          </p:nvPr>
        </p:nvSpPr>
        <p:spPr/>
        <p:txBody>
          <a:bodyPr/>
          <a:lstStyle/>
          <a:p>
            <a:fld id="{0892F64C-7D7A-4523-8CE9-7989EBA38443}" type="slidenum">
              <a:rPr lang="en-US" smtClean="0"/>
              <a:t>‹#›</a:t>
            </a:fld>
            <a:endParaRPr lang="en-US"/>
          </a:p>
        </p:txBody>
      </p:sp>
    </p:spTree>
    <p:extLst>
      <p:ext uri="{BB962C8B-B14F-4D97-AF65-F5344CB8AC3E}">
        <p14:creationId xmlns:p14="http://schemas.microsoft.com/office/powerpoint/2010/main" val="1974833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3427F9-8EE7-D7E9-ADB0-ED230B55B631}"/>
              </a:ext>
            </a:extLst>
          </p:cNvPr>
          <p:cNvSpPr>
            <a:spLocks noGrp="1"/>
          </p:cNvSpPr>
          <p:nvPr>
            <p:ph type="dt" sz="half" idx="10"/>
          </p:nvPr>
        </p:nvSpPr>
        <p:spPr/>
        <p:txBody>
          <a:bodyPr/>
          <a:lstStyle/>
          <a:p>
            <a:fld id="{51DB43D7-0ADC-49B9-B3E6-FF12E797A797}" type="datetimeFigureOut">
              <a:rPr lang="en-US" smtClean="0"/>
              <a:t>6/4/2026</a:t>
            </a:fld>
            <a:endParaRPr lang="en-US"/>
          </a:p>
        </p:txBody>
      </p:sp>
      <p:sp>
        <p:nvSpPr>
          <p:cNvPr id="3" name="Footer Placeholder 2">
            <a:extLst>
              <a:ext uri="{FF2B5EF4-FFF2-40B4-BE49-F238E27FC236}">
                <a16:creationId xmlns:a16="http://schemas.microsoft.com/office/drawing/2014/main" id="{9D855373-D55A-9B69-876E-A2EA99C8288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613F740-B8DD-0066-880A-B35F785E0533}"/>
              </a:ext>
            </a:extLst>
          </p:cNvPr>
          <p:cNvSpPr>
            <a:spLocks noGrp="1"/>
          </p:cNvSpPr>
          <p:nvPr>
            <p:ph type="sldNum" sz="quarter" idx="12"/>
          </p:nvPr>
        </p:nvSpPr>
        <p:spPr/>
        <p:txBody>
          <a:bodyPr/>
          <a:lstStyle/>
          <a:p>
            <a:fld id="{0892F64C-7D7A-4523-8CE9-7989EBA38443}" type="slidenum">
              <a:rPr lang="en-US" smtClean="0"/>
              <a:t>‹#›</a:t>
            </a:fld>
            <a:endParaRPr lang="en-US"/>
          </a:p>
        </p:txBody>
      </p:sp>
    </p:spTree>
    <p:extLst>
      <p:ext uri="{BB962C8B-B14F-4D97-AF65-F5344CB8AC3E}">
        <p14:creationId xmlns:p14="http://schemas.microsoft.com/office/powerpoint/2010/main" val="3691170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4D63E-0948-4A94-F21C-419D159BF0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725563-736C-D2DC-1962-8FCA41055D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6AABC00-7DE4-7648-915D-8F86684D67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8FED5D-184E-7BA0-334A-35CDB0106DE4}"/>
              </a:ext>
            </a:extLst>
          </p:cNvPr>
          <p:cNvSpPr>
            <a:spLocks noGrp="1"/>
          </p:cNvSpPr>
          <p:nvPr>
            <p:ph type="dt" sz="half" idx="10"/>
          </p:nvPr>
        </p:nvSpPr>
        <p:spPr/>
        <p:txBody>
          <a:bodyPr/>
          <a:lstStyle/>
          <a:p>
            <a:fld id="{51DB43D7-0ADC-49B9-B3E6-FF12E797A797}" type="datetimeFigureOut">
              <a:rPr lang="en-US" smtClean="0"/>
              <a:t>6/4/2026</a:t>
            </a:fld>
            <a:endParaRPr lang="en-US"/>
          </a:p>
        </p:txBody>
      </p:sp>
      <p:sp>
        <p:nvSpPr>
          <p:cNvPr id="6" name="Footer Placeholder 5">
            <a:extLst>
              <a:ext uri="{FF2B5EF4-FFF2-40B4-BE49-F238E27FC236}">
                <a16:creationId xmlns:a16="http://schemas.microsoft.com/office/drawing/2014/main" id="{FFC92EF8-09B2-8F15-22F6-5BD023526A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952607-E47D-CD0D-2B62-750FA6D1C7FC}"/>
              </a:ext>
            </a:extLst>
          </p:cNvPr>
          <p:cNvSpPr>
            <a:spLocks noGrp="1"/>
          </p:cNvSpPr>
          <p:nvPr>
            <p:ph type="sldNum" sz="quarter" idx="12"/>
          </p:nvPr>
        </p:nvSpPr>
        <p:spPr/>
        <p:txBody>
          <a:bodyPr/>
          <a:lstStyle/>
          <a:p>
            <a:fld id="{0892F64C-7D7A-4523-8CE9-7989EBA38443}" type="slidenum">
              <a:rPr lang="en-US" smtClean="0"/>
              <a:t>‹#›</a:t>
            </a:fld>
            <a:endParaRPr lang="en-US"/>
          </a:p>
        </p:txBody>
      </p:sp>
    </p:spTree>
    <p:extLst>
      <p:ext uri="{BB962C8B-B14F-4D97-AF65-F5344CB8AC3E}">
        <p14:creationId xmlns:p14="http://schemas.microsoft.com/office/powerpoint/2010/main" val="4057705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1E8C6-09D4-DA7A-4B42-4C5A2C34ED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205C36F-E02C-1AB3-932D-5110FEF928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AFCF0D-1E21-3D0D-FB17-7581F9083C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0826D1-E4A0-9B33-ECB8-9EE8A27BB7AB}"/>
              </a:ext>
            </a:extLst>
          </p:cNvPr>
          <p:cNvSpPr>
            <a:spLocks noGrp="1"/>
          </p:cNvSpPr>
          <p:nvPr>
            <p:ph type="dt" sz="half" idx="10"/>
          </p:nvPr>
        </p:nvSpPr>
        <p:spPr/>
        <p:txBody>
          <a:bodyPr/>
          <a:lstStyle/>
          <a:p>
            <a:fld id="{51DB43D7-0ADC-49B9-B3E6-FF12E797A797}" type="datetimeFigureOut">
              <a:rPr lang="en-US" smtClean="0"/>
              <a:t>6/4/2026</a:t>
            </a:fld>
            <a:endParaRPr lang="en-US"/>
          </a:p>
        </p:txBody>
      </p:sp>
      <p:sp>
        <p:nvSpPr>
          <p:cNvPr id="6" name="Footer Placeholder 5">
            <a:extLst>
              <a:ext uri="{FF2B5EF4-FFF2-40B4-BE49-F238E27FC236}">
                <a16:creationId xmlns:a16="http://schemas.microsoft.com/office/drawing/2014/main" id="{57FF7199-3E53-A197-0CEA-FF4320EE72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78C8C5-0803-4BA0-FA86-91169F9C9E2F}"/>
              </a:ext>
            </a:extLst>
          </p:cNvPr>
          <p:cNvSpPr>
            <a:spLocks noGrp="1"/>
          </p:cNvSpPr>
          <p:nvPr>
            <p:ph type="sldNum" sz="quarter" idx="12"/>
          </p:nvPr>
        </p:nvSpPr>
        <p:spPr/>
        <p:txBody>
          <a:bodyPr/>
          <a:lstStyle/>
          <a:p>
            <a:fld id="{0892F64C-7D7A-4523-8CE9-7989EBA38443}" type="slidenum">
              <a:rPr lang="en-US" smtClean="0"/>
              <a:t>‹#›</a:t>
            </a:fld>
            <a:endParaRPr lang="en-US"/>
          </a:p>
        </p:txBody>
      </p:sp>
    </p:spTree>
    <p:extLst>
      <p:ext uri="{BB962C8B-B14F-4D97-AF65-F5344CB8AC3E}">
        <p14:creationId xmlns:p14="http://schemas.microsoft.com/office/powerpoint/2010/main" val="311367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FF7DA-32DC-F650-5EDB-3B6CDCDBC0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996BC6D-1A37-453C-2A79-0FF33FE724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09E938-9346-39B0-7836-9592755B5D7D}"/>
              </a:ext>
            </a:extLst>
          </p:cNvPr>
          <p:cNvSpPr>
            <a:spLocks noGrp="1"/>
          </p:cNvSpPr>
          <p:nvPr>
            <p:ph type="dt" sz="half" idx="10"/>
          </p:nvPr>
        </p:nvSpPr>
        <p:spPr/>
        <p:txBody>
          <a:bodyPr/>
          <a:lstStyle/>
          <a:p>
            <a:fld id="{51DB43D7-0ADC-49B9-B3E6-FF12E797A797}" type="datetimeFigureOut">
              <a:rPr lang="en-US" smtClean="0"/>
              <a:t>6/4/2026</a:t>
            </a:fld>
            <a:endParaRPr lang="en-US"/>
          </a:p>
        </p:txBody>
      </p:sp>
      <p:sp>
        <p:nvSpPr>
          <p:cNvPr id="5" name="Footer Placeholder 4">
            <a:extLst>
              <a:ext uri="{FF2B5EF4-FFF2-40B4-BE49-F238E27FC236}">
                <a16:creationId xmlns:a16="http://schemas.microsoft.com/office/drawing/2014/main" id="{D6BA9D9D-A612-EB24-7A3A-4D8F313C14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BFEA31-4AF4-39F2-4B4A-ACBC8B0CC04A}"/>
              </a:ext>
            </a:extLst>
          </p:cNvPr>
          <p:cNvSpPr>
            <a:spLocks noGrp="1"/>
          </p:cNvSpPr>
          <p:nvPr>
            <p:ph type="sldNum" sz="quarter" idx="12"/>
          </p:nvPr>
        </p:nvSpPr>
        <p:spPr/>
        <p:txBody>
          <a:bodyPr/>
          <a:lstStyle/>
          <a:p>
            <a:fld id="{0892F64C-7D7A-4523-8CE9-7989EBA38443}" type="slidenum">
              <a:rPr lang="en-US" smtClean="0"/>
              <a:t>‹#›</a:t>
            </a:fld>
            <a:endParaRPr lang="en-US"/>
          </a:p>
        </p:txBody>
      </p:sp>
    </p:spTree>
    <p:extLst>
      <p:ext uri="{BB962C8B-B14F-4D97-AF65-F5344CB8AC3E}">
        <p14:creationId xmlns:p14="http://schemas.microsoft.com/office/powerpoint/2010/main" val="3288388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88517D-8945-F6FD-C763-2CBBB6F3DE2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8A048A0-19A3-C541-900D-0B1CA7B601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AD2848-2DD9-C881-F580-BE5B4E186771}"/>
              </a:ext>
            </a:extLst>
          </p:cNvPr>
          <p:cNvSpPr>
            <a:spLocks noGrp="1"/>
          </p:cNvSpPr>
          <p:nvPr>
            <p:ph type="dt" sz="half" idx="10"/>
          </p:nvPr>
        </p:nvSpPr>
        <p:spPr/>
        <p:txBody>
          <a:bodyPr/>
          <a:lstStyle/>
          <a:p>
            <a:fld id="{51DB43D7-0ADC-49B9-B3E6-FF12E797A797}" type="datetimeFigureOut">
              <a:rPr lang="en-US" smtClean="0"/>
              <a:t>6/4/2026</a:t>
            </a:fld>
            <a:endParaRPr lang="en-US"/>
          </a:p>
        </p:txBody>
      </p:sp>
      <p:sp>
        <p:nvSpPr>
          <p:cNvPr id="5" name="Footer Placeholder 4">
            <a:extLst>
              <a:ext uri="{FF2B5EF4-FFF2-40B4-BE49-F238E27FC236}">
                <a16:creationId xmlns:a16="http://schemas.microsoft.com/office/drawing/2014/main" id="{50E722F3-1A0A-2956-ECB8-C4CA2C039E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2DD2CE-88C1-B7C8-5DB0-CD22B951BA79}"/>
              </a:ext>
            </a:extLst>
          </p:cNvPr>
          <p:cNvSpPr>
            <a:spLocks noGrp="1"/>
          </p:cNvSpPr>
          <p:nvPr>
            <p:ph type="sldNum" sz="quarter" idx="12"/>
          </p:nvPr>
        </p:nvSpPr>
        <p:spPr/>
        <p:txBody>
          <a:bodyPr/>
          <a:lstStyle/>
          <a:p>
            <a:fld id="{0892F64C-7D7A-4523-8CE9-7989EBA38443}" type="slidenum">
              <a:rPr lang="en-US" smtClean="0"/>
              <a:t>‹#›</a:t>
            </a:fld>
            <a:endParaRPr lang="en-US"/>
          </a:p>
        </p:txBody>
      </p:sp>
    </p:spTree>
    <p:extLst>
      <p:ext uri="{BB962C8B-B14F-4D97-AF65-F5344CB8AC3E}">
        <p14:creationId xmlns:p14="http://schemas.microsoft.com/office/powerpoint/2010/main" val="1068963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608AD2-FD93-909E-BEB2-4BAB8F235D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6C9D1C2-81FC-DDC1-6492-09EBC9BA57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771AC1-E168-50CF-9505-4185722034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1DB43D7-0ADC-49B9-B3E6-FF12E797A797}" type="datetimeFigureOut">
              <a:rPr lang="en-US" smtClean="0"/>
              <a:t>6/4/2026</a:t>
            </a:fld>
            <a:endParaRPr lang="en-US"/>
          </a:p>
        </p:txBody>
      </p:sp>
      <p:sp>
        <p:nvSpPr>
          <p:cNvPr id="5" name="Footer Placeholder 4">
            <a:extLst>
              <a:ext uri="{FF2B5EF4-FFF2-40B4-BE49-F238E27FC236}">
                <a16:creationId xmlns:a16="http://schemas.microsoft.com/office/drawing/2014/main" id="{64AA0497-59B8-2D6F-1077-C201B0DDD8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A745848-5F4E-EDBA-49F7-ADAD78B0EA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92F64C-7D7A-4523-8CE9-7989EBA38443}" type="slidenum">
              <a:rPr lang="en-US" smtClean="0"/>
              <a:t>‹#›</a:t>
            </a:fld>
            <a:endParaRPr lang="en-US"/>
          </a:p>
        </p:txBody>
      </p:sp>
    </p:spTree>
    <p:extLst>
      <p:ext uri="{BB962C8B-B14F-4D97-AF65-F5344CB8AC3E}">
        <p14:creationId xmlns:p14="http://schemas.microsoft.com/office/powerpoint/2010/main" val="34562884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B1E7A-4B56-3155-58AF-F8B36A35DC55}"/>
              </a:ext>
            </a:extLst>
          </p:cNvPr>
          <p:cNvSpPr>
            <a:spLocks noGrp="1"/>
          </p:cNvSpPr>
          <p:nvPr>
            <p:ph type="ctrTitle"/>
          </p:nvPr>
        </p:nvSpPr>
        <p:spPr/>
        <p:txBody>
          <a:bodyPr/>
          <a:lstStyle/>
          <a:p>
            <a:r>
              <a:rPr lang="en-US" dirty="0"/>
              <a:t>CTD Basket Explained</a:t>
            </a:r>
          </a:p>
        </p:txBody>
      </p:sp>
      <p:sp>
        <p:nvSpPr>
          <p:cNvPr id="3" name="Subtitle 2">
            <a:extLst>
              <a:ext uri="{FF2B5EF4-FFF2-40B4-BE49-F238E27FC236}">
                <a16:creationId xmlns:a16="http://schemas.microsoft.com/office/drawing/2014/main" id="{46659331-B377-D3D7-014C-B056A9A6B8B5}"/>
              </a:ext>
            </a:extLst>
          </p:cNvPr>
          <p:cNvSpPr>
            <a:spLocks noGrp="1"/>
          </p:cNvSpPr>
          <p:nvPr>
            <p:ph type="subTitle" idx="1"/>
          </p:nvPr>
        </p:nvSpPr>
        <p:spPr/>
        <p:txBody>
          <a:bodyPr/>
          <a:lstStyle/>
          <a:p>
            <a:r>
              <a:rPr lang="en-US" dirty="0"/>
              <a:t>CME US Treasury Economics</a:t>
            </a:r>
          </a:p>
        </p:txBody>
      </p:sp>
    </p:spTree>
    <p:extLst>
      <p:ext uri="{BB962C8B-B14F-4D97-AF65-F5344CB8AC3E}">
        <p14:creationId xmlns:p14="http://schemas.microsoft.com/office/powerpoint/2010/main" val="1201417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1E724-2DDF-3A8D-3A7C-D19C9C869440}"/>
              </a:ext>
            </a:extLst>
          </p:cNvPr>
          <p:cNvSpPr>
            <a:spLocks noGrp="1"/>
          </p:cNvSpPr>
          <p:nvPr>
            <p:ph type="title"/>
          </p:nvPr>
        </p:nvSpPr>
        <p:spPr/>
        <p:txBody>
          <a:bodyPr/>
          <a:lstStyle/>
          <a:p>
            <a:r>
              <a:rPr lang="en-US" dirty="0"/>
              <a:t>What is a Basket?</a:t>
            </a:r>
          </a:p>
        </p:txBody>
      </p:sp>
      <p:sp>
        <p:nvSpPr>
          <p:cNvPr id="3" name="Content Placeholder 2">
            <a:extLst>
              <a:ext uri="{FF2B5EF4-FFF2-40B4-BE49-F238E27FC236}">
                <a16:creationId xmlns:a16="http://schemas.microsoft.com/office/drawing/2014/main" id="{DC116FE6-2716-41FB-8C19-00A10918B002}"/>
              </a:ext>
            </a:extLst>
          </p:cNvPr>
          <p:cNvSpPr>
            <a:spLocks noGrp="1"/>
          </p:cNvSpPr>
          <p:nvPr>
            <p:ph idx="1"/>
          </p:nvPr>
        </p:nvSpPr>
        <p:spPr>
          <a:xfrm>
            <a:off x="838200" y="1825625"/>
            <a:ext cx="5257800" cy="4351338"/>
          </a:xfrm>
        </p:spPr>
        <p:txBody>
          <a:bodyPr/>
          <a:lstStyle/>
          <a:p>
            <a:r>
              <a:rPr lang="en-US" dirty="0"/>
              <a:t>Each CME UST contract has a specific bundle of bonds that qualify for being “cheapest to deliver”, this isn’t a blanked maturity range but those that quants at the Mercantile deem eligible.</a:t>
            </a:r>
          </a:p>
        </p:txBody>
      </p:sp>
      <p:sp>
        <p:nvSpPr>
          <p:cNvPr id="6" name="TextBox 5">
            <a:extLst>
              <a:ext uri="{FF2B5EF4-FFF2-40B4-BE49-F238E27FC236}">
                <a16:creationId xmlns:a16="http://schemas.microsoft.com/office/drawing/2014/main" id="{F0572346-1339-7D1B-85AD-1DBA66A5FAE5}"/>
              </a:ext>
            </a:extLst>
          </p:cNvPr>
          <p:cNvSpPr txBox="1"/>
          <p:nvPr/>
        </p:nvSpPr>
        <p:spPr>
          <a:xfrm>
            <a:off x="3047238" y="3244334"/>
            <a:ext cx="6094476" cy="369332"/>
          </a:xfrm>
          <a:prstGeom prst="rect">
            <a:avLst/>
          </a:prstGeom>
          <a:noFill/>
        </p:spPr>
        <p:txBody>
          <a:bodyPr wrap="square">
            <a:spAutoFit/>
          </a:bodyPr>
          <a:lstStyle/>
          <a:p>
            <a:endParaRPr lang="en-US" dirty="0"/>
          </a:p>
        </p:txBody>
      </p:sp>
      <p:pic>
        <p:nvPicPr>
          <p:cNvPr id="8" name="Picture 7">
            <a:extLst>
              <a:ext uri="{FF2B5EF4-FFF2-40B4-BE49-F238E27FC236}">
                <a16:creationId xmlns:a16="http://schemas.microsoft.com/office/drawing/2014/main" id="{56943CF8-2235-371F-06BB-EB657AEA93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5043" y="1043264"/>
            <a:ext cx="5365868" cy="4062135"/>
          </a:xfrm>
          <a:prstGeom prst="rect">
            <a:avLst/>
          </a:prstGeom>
        </p:spPr>
      </p:pic>
    </p:spTree>
    <p:extLst>
      <p:ext uri="{BB962C8B-B14F-4D97-AF65-F5344CB8AC3E}">
        <p14:creationId xmlns:p14="http://schemas.microsoft.com/office/powerpoint/2010/main" val="4213137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924CD-6CF5-CC1C-86BF-4B90EC439A2A}"/>
              </a:ext>
            </a:extLst>
          </p:cNvPr>
          <p:cNvSpPr>
            <a:spLocks noGrp="1"/>
          </p:cNvSpPr>
          <p:nvPr>
            <p:ph type="title"/>
          </p:nvPr>
        </p:nvSpPr>
        <p:spPr>
          <a:xfrm>
            <a:off x="838200" y="365125"/>
            <a:ext cx="10515600" cy="930275"/>
          </a:xfrm>
        </p:spPr>
        <p:txBody>
          <a:bodyPr/>
          <a:lstStyle/>
          <a:p>
            <a:r>
              <a:rPr lang="en-US" dirty="0"/>
              <a:t>What is “Cheapest to Deliver”</a:t>
            </a:r>
          </a:p>
        </p:txBody>
      </p:sp>
      <p:sp>
        <p:nvSpPr>
          <p:cNvPr id="3" name="Content Placeholder 2">
            <a:extLst>
              <a:ext uri="{FF2B5EF4-FFF2-40B4-BE49-F238E27FC236}">
                <a16:creationId xmlns:a16="http://schemas.microsoft.com/office/drawing/2014/main" id="{9581371B-2929-D75D-A97E-A802C6882AED}"/>
              </a:ext>
            </a:extLst>
          </p:cNvPr>
          <p:cNvSpPr>
            <a:spLocks noGrp="1"/>
          </p:cNvSpPr>
          <p:nvPr>
            <p:ph idx="1"/>
          </p:nvPr>
        </p:nvSpPr>
        <p:spPr>
          <a:xfrm>
            <a:off x="838200" y="1562100"/>
            <a:ext cx="10957560" cy="4614863"/>
          </a:xfrm>
        </p:spPr>
        <p:txBody>
          <a:bodyPr>
            <a:normAutofit/>
          </a:bodyPr>
          <a:lstStyle/>
          <a:p>
            <a:r>
              <a:rPr lang="en-US" dirty="0"/>
              <a:t>Being CTD means that this bond has the best delivery economics (think carry adjusted total return) for the </a:t>
            </a:r>
            <a:r>
              <a:rPr lang="en-US" dirty="0">
                <a:solidFill>
                  <a:schemeClr val="accent3">
                    <a:lumMod val="60000"/>
                    <a:lumOff val="40000"/>
                  </a:schemeClr>
                </a:solidFill>
              </a:rPr>
              <a:t>LONG</a:t>
            </a:r>
            <a:r>
              <a:rPr lang="en-US" dirty="0"/>
              <a:t> cash </a:t>
            </a:r>
            <a:r>
              <a:rPr lang="en-US" dirty="0">
                <a:solidFill>
                  <a:srgbClr val="FF0000"/>
                </a:solidFill>
              </a:rPr>
              <a:t>SHORT</a:t>
            </a:r>
            <a:r>
              <a:rPr lang="en-US" dirty="0"/>
              <a:t> futures position, known as the deliverer</a:t>
            </a:r>
          </a:p>
          <a:p>
            <a:r>
              <a:rPr lang="en-US" dirty="0"/>
              <a:t>A student way to think of this is to simply look for the lowest number when subtracting he invoice price from the bonds dirty price.</a:t>
            </a:r>
          </a:p>
          <a:p>
            <a:r>
              <a:rPr lang="en-US" dirty="0"/>
              <a:t>The CTD then becomes the cash representation of what the futures contract ideally represents, and in nominal liquidity environments much of the </a:t>
            </a:r>
            <a:r>
              <a:rPr lang="en-US" dirty="0" err="1"/>
              <a:t>fututres</a:t>
            </a:r>
            <a:r>
              <a:rPr lang="en-US" dirty="0"/>
              <a:t> trade revolves around CTD dynamics.</a:t>
            </a:r>
          </a:p>
        </p:txBody>
      </p:sp>
    </p:spTree>
    <p:extLst>
      <p:ext uri="{BB962C8B-B14F-4D97-AF65-F5344CB8AC3E}">
        <p14:creationId xmlns:p14="http://schemas.microsoft.com/office/powerpoint/2010/main" val="58913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0074BE5-BDE4-611B-5BCA-358371A7F0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2107007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3EA2E-FA99-EB8E-0D5D-F18C4C7B56BA}"/>
              </a:ext>
            </a:extLst>
          </p:cNvPr>
          <p:cNvSpPr>
            <a:spLocks noGrp="1"/>
          </p:cNvSpPr>
          <p:nvPr>
            <p:ph type="title"/>
          </p:nvPr>
        </p:nvSpPr>
        <p:spPr/>
        <p:txBody>
          <a:bodyPr/>
          <a:lstStyle/>
          <a:p>
            <a:r>
              <a:rPr lang="en-US" dirty="0"/>
              <a:t>Ideal FV versus Market Traded</a:t>
            </a:r>
          </a:p>
        </p:txBody>
      </p:sp>
      <p:sp>
        <p:nvSpPr>
          <p:cNvPr id="3" name="Content Placeholder 2">
            <a:extLst>
              <a:ext uri="{FF2B5EF4-FFF2-40B4-BE49-F238E27FC236}">
                <a16:creationId xmlns:a16="http://schemas.microsoft.com/office/drawing/2014/main" id="{7278A145-CF04-16DF-AE85-ED73CBB24A1B}"/>
              </a:ext>
            </a:extLst>
          </p:cNvPr>
          <p:cNvSpPr>
            <a:spLocks noGrp="1"/>
          </p:cNvSpPr>
          <p:nvPr>
            <p:ph idx="1"/>
          </p:nvPr>
        </p:nvSpPr>
        <p:spPr/>
        <p:txBody>
          <a:bodyPr/>
          <a:lstStyle/>
          <a:p>
            <a:r>
              <a:rPr lang="en-US" dirty="0"/>
              <a:t>Nuance to add to the CTD selection is that not always the financially determined bond (via textbook fundamentals, not desk physics lol) will be what the market observed CTD is.</a:t>
            </a:r>
          </a:p>
          <a:p>
            <a:r>
              <a:rPr lang="en-US" dirty="0"/>
              <a:t>This is when the FV Futures and Market Futures spot diverge significantly, with the implied financing rate trading heavily rich or cheap to the Ideal Futures Repo.</a:t>
            </a:r>
          </a:p>
          <a:p>
            <a:r>
              <a:rPr lang="en-US" dirty="0"/>
              <a:t>On a spot price basis this looks like a large “gap” of the Market to Repo FV futures, on a curve this is when you see a much steeper/flatter futures curve than the FV one.</a:t>
            </a:r>
          </a:p>
        </p:txBody>
      </p:sp>
    </p:spTree>
    <p:extLst>
      <p:ext uri="{BB962C8B-B14F-4D97-AF65-F5344CB8AC3E}">
        <p14:creationId xmlns:p14="http://schemas.microsoft.com/office/powerpoint/2010/main" val="1192932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CE4130-6CBB-3FB3-07A7-68289ABCD9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1782" y="4284"/>
            <a:ext cx="10288436" cy="6849431"/>
          </a:xfrm>
          <a:prstGeom prst="rect">
            <a:avLst/>
          </a:prstGeom>
        </p:spPr>
      </p:pic>
    </p:spTree>
    <p:extLst>
      <p:ext uri="{BB962C8B-B14F-4D97-AF65-F5344CB8AC3E}">
        <p14:creationId xmlns:p14="http://schemas.microsoft.com/office/powerpoint/2010/main" val="225274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73721-3F0D-3072-1FA0-CBF65A8DB5F2}"/>
              </a:ext>
            </a:extLst>
          </p:cNvPr>
          <p:cNvSpPr>
            <a:spLocks noGrp="1"/>
          </p:cNvSpPr>
          <p:nvPr>
            <p:ph type="title"/>
          </p:nvPr>
        </p:nvSpPr>
        <p:spPr/>
        <p:txBody>
          <a:bodyPr/>
          <a:lstStyle/>
          <a:p>
            <a:r>
              <a:rPr lang="en-US" dirty="0"/>
              <a:t>Why This Matters</a:t>
            </a:r>
          </a:p>
        </p:txBody>
      </p:sp>
      <p:sp>
        <p:nvSpPr>
          <p:cNvPr id="3" name="Content Placeholder 2">
            <a:extLst>
              <a:ext uri="{FF2B5EF4-FFF2-40B4-BE49-F238E27FC236}">
                <a16:creationId xmlns:a16="http://schemas.microsoft.com/office/drawing/2014/main" id="{1C856F25-0F83-FAB6-997F-26FF51502D3F}"/>
              </a:ext>
            </a:extLst>
          </p:cNvPr>
          <p:cNvSpPr>
            <a:spLocks noGrp="1"/>
          </p:cNvSpPr>
          <p:nvPr>
            <p:ph idx="1"/>
          </p:nvPr>
        </p:nvSpPr>
        <p:spPr/>
        <p:txBody>
          <a:bodyPr/>
          <a:lstStyle/>
          <a:p>
            <a:r>
              <a:rPr lang="en-US" dirty="0"/>
              <a:t>For trading desks CTD dynamics are massive. Firstly, much of the nominal Futures dynamics are tied directly or to the financing of the CTD within the basket, so even extremely basic positions like a spot Futures (long/short) speculation trade is structurally impossible without knowing its underlying CTD.</a:t>
            </a:r>
          </a:p>
          <a:p>
            <a:r>
              <a:rPr lang="en-US" dirty="0"/>
              <a:t>Considering the advanced desk trades involving swaps, calendars, yield curve FIRV, the entire engine of modern Rates Trading via Futures sits on the engine of CTD baskets and its financing.</a:t>
            </a:r>
          </a:p>
        </p:txBody>
      </p:sp>
    </p:spTree>
    <p:extLst>
      <p:ext uri="{BB962C8B-B14F-4D97-AF65-F5344CB8AC3E}">
        <p14:creationId xmlns:p14="http://schemas.microsoft.com/office/powerpoint/2010/main" val="2238825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085404-7E2F-9966-494E-99DB07E2C0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0835" y="4284"/>
            <a:ext cx="10250330" cy="6849431"/>
          </a:xfrm>
          <a:prstGeom prst="rect">
            <a:avLst/>
          </a:prstGeom>
        </p:spPr>
      </p:pic>
    </p:spTree>
    <p:extLst>
      <p:ext uri="{BB962C8B-B14F-4D97-AF65-F5344CB8AC3E}">
        <p14:creationId xmlns:p14="http://schemas.microsoft.com/office/powerpoint/2010/main" val="1982350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1CBAB-1FC9-01C5-55FE-0B763D86561F}"/>
              </a:ext>
            </a:extLst>
          </p:cNvPr>
          <p:cNvSpPr>
            <a:spLocks noGrp="1"/>
          </p:cNvSpPr>
          <p:nvPr>
            <p:ph type="title"/>
          </p:nvPr>
        </p:nvSpPr>
        <p:spPr/>
        <p:txBody>
          <a:bodyPr/>
          <a:lstStyle/>
          <a:p>
            <a:r>
              <a:rPr lang="en-US" dirty="0"/>
              <a:t>Final Nuance for Rates Quants</a:t>
            </a:r>
          </a:p>
        </p:txBody>
      </p:sp>
      <p:sp>
        <p:nvSpPr>
          <p:cNvPr id="3" name="Content Placeholder 2">
            <a:extLst>
              <a:ext uri="{FF2B5EF4-FFF2-40B4-BE49-F238E27FC236}">
                <a16:creationId xmlns:a16="http://schemas.microsoft.com/office/drawing/2014/main" id="{5CA55C04-6C3C-B315-5DC6-D043AEF1AEC3}"/>
              </a:ext>
            </a:extLst>
          </p:cNvPr>
          <p:cNvSpPr>
            <a:spLocks noGrp="1"/>
          </p:cNvSpPr>
          <p:nvPr>
            <p:ph idx="1"/>
          </p:nvPr>
        </p:nvSpPr>
        <p:spPr/>
        <p:txBody>
          <a:bodyPr/>
          <a:lstStyle/>
          <a:p>
            <a:pPr marL="0" indent="0">
              <a:buNone/>
            </a:pPr>
            <a:r>
              <a:rPr lang="en-US" dirty="0"/>
              <a:t>The math engine behind the CTD basket can get messy fast, special repo, SOFR curves, second+ order convexity can quickly make it feel as though modeling the basket is impossibly. Which is true.</a:t>
            </a:r>
          </a:p>
          <a:p>
            <a:pPr marL="0" indent="0">
              <a:buNone/>
            </a:pPr>
            <a:endParaRPr lang="en-US" dirty="0"/>
          </a:p>
          <a:p>
            <a:pPr marL="0" indent="0">
              <a:buNone/>
            </a:pPr>
            <a:r>
              <a:rPr lang="en-US" dirty="0"/>
              <a:t>CTD dynamics and the delivery of Government Securities MUST be identified by looking how the market prices the basket and explaining the math secondly. Especially in modern overnight leveraged markets, feeling confident in a proprietary model can, and usually is, the end of many FIRV desks.</a:t>
            </a:r>
          </a:p>
        </p:txBody>
      </p:sp>
    </p:spTree>
    <p:extLst>
      <p:ext uri="{BB962C8B-B14F-4D97-AF65-F5344CB8AC3E}">
        <p14:creationId xmlns:p14="http://schemas.microsoft.com/office/powerpoint/2010/main" val="4217672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EB227-1C65-9CB4-72E5-A4D9B4DA4B61}"/>
              </a:ext>
            </a:extLst>
          </p:cNvPr>
          <p:cNvSpPr>
            <a:spLocks noGrp="1"/>
          </p:cNvSpPr>
          <p:nvPr>
            <p:ph type="title"/>
          </p:nvPr>
        </p:nvSpPr>
        <p:spPr>
          <a:xfrm>
            <a:off x="838200" y="2766218"/>
            <a:ext cx="10515600" cy="1325563"/>
          </a:xfrm>
        </p:spPr>
        <p:txBody>
          <a:bodyPr/>
          <a:lstStyle/>
          <a:p>
            <a:pPr algn="ctr"/>
            <a:r>
              <a:rPr lang="en-US" dirty="0"/>
              <a:t>Thanks For Listening</a:t>
            </a:r>
          </a:p>
        </p:txBody>
      </p:sp>
    </p:spTree>
    <p:extLst>
      <p:ext uri="{BB962C8B-B14F-4D97-AF65-F5344CB8AC3E}">
        <p14:creationId xmlns:p14="http://schemas.microsoft.com/office/powerpoint/2010/main" val="6049023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527EF202C489544903AE9974BF39310" ma:contentTypeVersion="4" ma:contentTypeDescription="Create a new document." ma:contentTypeScope="" ma:versionID="59bc2029951f676e9f30c2cc126892cb">
  <xsd:schema xmlns:xsd="http://www.w3.org/2001/XMLSchema" xmlns:xs="http://www.w3.org/2001/XMLSchema" xmlns:p="http://schemas.microsoft.com/office/2006/metadata/properties" xmlns:ns3="aa22a689-7505-4716-b802-371d38c763eb" targetNamespace="http://schemas.microsoft.com/office/2006/metadata/properties" ma:root="true" ma:fieldsID="11ccfcbd33bee6523d6e1d1941903c6f" ns3:_="">
    <xsd:import namespace="aa22a689-7505-4716-b802-371d38c763eb"/>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22a689-7505-4716-b802-371d38c763eb"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AEB10B5-857B-4D1D-BC45-DF1E70A7A4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a22a689-7505-4716-b802-371d38c763e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4519C86-BF7F-42CA-91DD-3515F60300C8}">
  <ds:schemaRefs>
    <ds:schemaRef ds:uri="http://schemas.microsoft.com/sharepoint/v3/contenttype/forms"/>
  </ds:schemaRefs>
</ds:datastoreItem>
</file>

<file path=customXml/itemProps3.xml><?xml version="1.0" encoding="utf-8"?>
<ds:datastoreItem xmlns:ds="http://schemas.openxmlformats.org/officeDocument/2006/customXml" ds:itemID="{FA6273EB-E0C5-4CB8-9654-6EEBF6B4E67F}">
  <ds:schemaRefs>
    <ds:schemaRef ds:uri="aa22a689-7505-4716-b802-371d38c763eb"/>
    <ds:schemaRef ds:uri="http://purl.org/dc/elements/1.1/"/>
    <ds:schemaRef ds:uri="http://purl.org/dc/terms/"/>
    <ds:schemaRef ds:uri="http://schemas.microsoft.com/office/infopath/2007/PartnerControls"/>
    <ds:schemaRef ds:uri="http://schemas.microsoft.com/office/2006/metadata/properties"/>
    <ds:schemaRef ds:uri="http://schemas.microsoft.com/office/2006/documentManagement/types"/>
    <ds:schemaRef ds:uri="http://www.w3.org/XML/1998/namespace"/>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123</TotalTime>
  <Words>439</Words>
  <Application>Microsoft Office PowerPoint</Application>
  <PresentationFormat>Widescreen</PresentationFormat>
  <Paragraphs>20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CTD Basket Explained</vt:lpstr>
      <vt:lpstr>What is a Basket?</vt:lpstr>
      <vt:lpstr>What is “Cheapest to Deliver”</vt:lpstr>
      <vt:lpstr>PowerPoint Presentation</vt:lpstr>
      <vt:lpstr>Ideal FV versus Market Traded</vt:lpstr>
      <vt:lpstr>PowerPoint Presentation</vt:lpstr>
      <vt:lpstr>Why This Matters</vt:lpstr>
      <vt:lpstr>PowerPoint Presentation</vt:lpstr>
      <vt:lpstr>Final Nuance for Rates Quants</vt:lpstr>
      <vt:lpstr>Thanks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Robert Nikolas</dc:creator>
  <cp:lastModifiedBy>Daniel, Robert Nikolas</cp:lastModifiedBy>
  <cp:revision>2</cp:revision>
  <dcterms:created xsi:type="dcterms:W3CDTF">2026-06-04T16:36:17Z</dcterms:created>
  <dcterms:modified xsi:type="dcterms:W3CDTF">2026-06-04T18:39:24Z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0x0101007527EF202C489544903AE9974BF39310</vt:lpwstr>
  </property>
</Properties>
</file>